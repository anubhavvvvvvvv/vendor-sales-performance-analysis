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 as a full data analytics pipeline — not just an EDA notebook. Emphasize scale: 126 vendors, ~10.7K records, $451M+ in sales tracked end to end from raw CSVs to statistical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 before any technical detail. Dataset numbers are pulled directly from the consolidated vendor_sales_summary table (10,692 rows, 126 vendors, 10,663 brand items).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anchor slide of the deck. Walk through each stage in order — raw CSVs land in SQLite, get merged with CTE-based SQL, pass through a logged Python ETL, get feature-engineered, then flow into EDA and statistical testing to produce business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ingestion function. Emphasize chunked loading (10K rows), modular reusable functions, and that every run is logged with timestamps and row counts for auditability.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transformation flow left to right: raw data problems, the cleaning steps applied, and the four business metrics engineered on top of the cleaned data — these four metrics drive every insight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real charts generated directly from the vendor_sales_summary table: correlation heatmap, top-10 vendors by sales, Pareto vendor concentration, and metric distributions. Walk through the caption under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Confidence interval test comparing profit margin between top-quartile and bottom-quartile vendors by sales volume. Intervals don't overlap — top vendors cluster tightly around 30% margin, while low-volume vendors have a wide, negative-mean interval. Keep the business read front and center, not the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KPI numbers computed directly from the vendor_sales_summary table. 65% vendor concentration is a risk signal; 178 dead SKUs and 19.9% loss-making line items are the clearest cost-reduction opportunities; the 520 brands in the opportunity-map quadrant are the clearest growth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concrete, data-backed actions, each tied directly back to a number introduced on the insights slide. Frame this as what management should do this quarter, ranked roughly by ease of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reframing this as a demonstration of full-stack data analyst skills — ETL, SQL, stats, storytelling — not just a notebook of charts. Update the GitHub link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PERFORMANCE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3375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Pipeline — SQL ETL, Feature Engineering, EDA &amp; Statistical Inference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892040"/>
            <a:ext cx="566928" cy="566928"/>
          </a:xfrm>
          <a:prstGeom prst="ellipse">
            <a:avLst/>
          </a:prstGeom>
          <a:solidFill>
            <a:srgbClr val="263080"/>
          </a:solidFill>
          <a:ln w="12700">
            <a:solidFill>
              <a:srgbClr val="4C7CF3"/>
            </a:solidFill>
            <a:prstDash val="solid"/>
          </a:ln>
        </p:spPr>
      </p:sp>
      <p:pic>
        <p:nvPicPr>
          <p:cNvPr id="7" name="Image 0" descr="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50200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50468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0320" y="4892040"/>
            <a:ext cx="566928" cy="566928"/>
          </a:xfrm>
          <a:prstGeom prst="ellipse">
            <a:avLst/>
          </a:prstGeom>
          <a:solidFill>
            <a:srgbClr val="263080"/>
          </a:solidFill>
          <a:ln w="12700">
            <a:solidFill>
              <a:srgbClr val="4C7CF3"/>
            </a:solidFill>
            <a:prstDash val="solid"/>
          </a:ln>
        </p:spPr>
      </p:sp>
      <p:pic>
        <p:nvPicPr>
          <p:cNvPr id="10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50200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40280" y="550468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251960" y="4892040"/>
            <a:ext cx="566928" cy="566928"/>
          </a:xfrm>
          <a:prstGeom prst="ellipse">
            <a:avLst/>
          </a:prstGeom>
          <a:solidFill>
            <a:srgbClr val="263080"/>
          </a:solidFill>
          <a:ln w="12700">
            <a:solidFill>
              <a:srgbClr val="4C7CF3"/>
            </a:solidFill>
            <a:prstDash val="solid"/>
          </a:ln>
        </p:spPr>
      </p:sp>
      <p:pic>
        <p:nvPicPr>
          <p:cNvPr id="13" name="Image 2" descr="icons/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502005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31920" y="550468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Seaborn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943600" y="4892040"/>
            <a:ext cx="566928" cy="566928"/>
          </a:xfrm>
          <a:prstGeom prst="ellipse">
            <a:avLst/>
          </a:prstGeom>
          <a:solidFill>
            <a:srgbClr val="263080"/>
          </a:solidFill>
          <a:ln w="12700">
            <a:solidFill>
              <a:srgbClr val="4C7CF3"/>
            </a:solidFill>
            <a:prstDash val="solid"/>
          </a:ln>
        </p:spPr>
      </p:sp>
      <p:pic>
        <p:nvPicPr>
          <p:cNvPr id="16" name="Image 3" descr="icons/co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502005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3560" y="550468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7635240" y="4892040"/>
            <a:ext cx="566928" cy="566928"/>
          </a:xfrm>
          <a:prstGeom prst="ellipse">
            <a:avLst/>
          </a:prstGeom>
          <a:solidFill>
            <a:srgbClr val="263080"/>
          </a:solidFill>
          <a:ln w="12700">
            <a:solidFill>
              <a:srgbClr val="4C7CF3"/>
            </a:solidFill>
            <a:prstDash val="solid"/>
          </a:ln>
        </p:spPr>
      </p:sp>
      <p:pic>
        <p:nvPicPr>
          <p:cNvPr id="19" name="Image 4" descr="icons/percen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502005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0" y="550468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Stats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86868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Data Analyst  |  126 Vendors  •  10,692 Vendor–Brand Records  •  $451.6M in Tracked Sales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4F6FB"/>
          </a:solidFill>
          <a:ln/>
        </p:spPr>
      </p:sp>
      <p:pic>
        <p:nvPicPr>
          <p:cNvPr id="4" name="Image 0" descr="icons/warn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2763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8680" y="214884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multi-vendor liquor distribution business tracks purchases, sales, freight and invoices across separate systems.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unified view, management cannot see which vendors are profitable, which products sit as dead stock, or where pricing is misaligned with cost.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consolidates 4 raw data sources into one analytical model to answer: Which vendors and brands drive profit — and which drain it?</a:t>
            </a:r>
            <a:endParaRPr lang="en-US" sz="1300" dirty="0"/>
          </a:p>
        </p:txBody>
      </p:sp>
      <p:pic>
        <p:nvPicPr>
          <p:cNvPr id="7" name="Image 1" descr="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2763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66560" y="16276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63640" y="224028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0" y="23500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400800" y="286207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SQLite Tables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00800" y="31363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· purchase_prices · sales · vendor_invoice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9006840" y="224028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0" y="23500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10,692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9144000" y="286207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Vendor–Brand Records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144000" y="31363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via CTE-based SQL joins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263640" y="37490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0" y="38587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6400800" y="437083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Vendors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0" y="4645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national &amp; regional suppliers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006840" y="37490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22" name="Text 18"/>
          <p:cNvSpPr/>
          <p:nvPr/>
        </p:nvSpPr>
        <p:spPr>
          <a:xfrm>
            <a:off x="9144000" y="38587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10,663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9144000" y="437083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Brand Items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144000" y="4645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product-level detail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6263640" y="55321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Every 1% improvement in profit margin across $451.6M in tracked sales represents roughly $4.5M in recovered margin.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Analysis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51760" y="1143000"/>
            <a:ext cx="6949440" cy="457200"/>
          </a:xfrm>
          <a:prstGeom prst="roundRect">
            <a:avLst>
              <a:gd name="adj" fmla="val 18000"/>
            </a:avLst>
          </a:prstGeom>
          <a:solidFill>
            <a:srgbClr val="263080"/>
          </a:solidFill>
          <a:ln w="9525">
            <a:solidFill>
              <a:srgbClr val="4C7C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24912" y="1197864"/>
            <a:ext cx="347472" cy="347472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5" name="Image 0" descr="icons/csv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27101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82112" y="1156716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Source Files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989320" y="1156716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purchase, sales &amp; invoice extracts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044184" y="1600200"/>
            <a:ext cx="164592" cy="123444"/>
          </a:xfrm>
          <a:prstGeom prst="downArrow">
            <a:avLst/>
          </a:prstGeom>
          <a:solidFill>
            <a:srgbClr val="4C7CF3"/>
          </a:solidFill>
          <a:ln/>
        </p:spPr>
      </p:sp>
      <p:sp>
        <p:nvSpPr>
          <p:cNvPr id="9" name="Shape 6"/>
          <p:cNvSpPr/>
          <p:nvPr/>
        </p:nvSpPr>
        <p:spPr>
          <a:xfrm>
            <a:off x="2651760" y="1723644"/>
            <a:ext cx="6949440" cy="457200"/>
          </a:xfrm>
          <a:prstGeom prst="roundRect">
            <a:avLst>
              <a:gd name="adj" fmla="val 18000"/>
            </a:avLst>
          </a:prstGeom>
          <a:solidFill>
            <a:srgbClr val="263080"/>
          </a:solidFill>
          <a:ln w="9525">
            <a:solidFill>
              <a:srgbClr val="4C7C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24912" y="1778508"/>
            <a:ext cx="347472" cy="347472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11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85166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82112" y="173736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989320" y="1737360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via chunked pandas.to_sql()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44184" y="2180844"/>
            <a:ext cx="164592" cy="123444"/>
          </a:xfrm>
          <a:prstGeom prst="downArrow">
            <a:avLst/>
          </a:prstGeom>
          <a:solidFill>
            <a:srgbClr val="4C7CF3"/>
          </a:solidFill>
          <a:ln/>
        </p:spPr>
      </p:sp>
      <p:sp>
        <p:nvSpPr>
          <p:cNvPr id="15" name="Shape 11"/>
          <p:cNvSpPr/>
          <p:nvPr/>
        </p:nvSpPr>
        <p:spPr>
          <a:xfrm>
            <a:off x="2651760" y="2304288"/>
            <a:ext cx="6949440" cy="457200"/>
          </a:xfrm>
          <a:prstGeom prst="roundRect">
            <a:avLst>
              <a:gd name="adj" fmla="val 18000"/>
            </a:avLst>
          </a:prstGeom>
          <a:solidFill>
            <a:srgbClr val="263080"/>
          </a:solidFill>
          <a:ln w="9525">
            <a:solidFill>
              <a:srgbClr val="4C7C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24912" y="2359152"/>
            <a:ext cx="347472" cy="347472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17" name="Image 2" descr="icons/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243230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82112" y="2318004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(CTEs &amp; Joins)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989320" y="2318004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+ Prices + Sales + Freight merged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044184" y="2761488"/>
            <a:ext cx="164592" cy="123444"/>
          </a:xfrm>
          <a:prstGeom prst="downArrow">
            <a:avLst/>
          </a:prstGeom>
          <a:solidFill>
            <a:srgbClr val="4C7CF3"/>
          </a:solidFill>
          <a:ln/>
        </p:spPr>
      </p:sp>
      <p:sp>
        <p:nvSpPr>
          <p:cNvPr id="21" name="Shape 16"/>
          <p:cNvSpPr/>
          <p:nvPr/>
        </p:nvSpPr>
        <p:spPr>
          <a:xfrm>
            <a:off x="2651760" y="2884932"/>
            <a:ext cx="6949440" cy="457200"/>
          </a:xfrm>
          <a:prstGeom prst="roundRect">
            <a:avLst>
              <a:gd name="adj" fmla="val 18000"/>
            </a:avLst>
          </a:prstGeom>
          <a:solidFill>
            <a:srgbClr val="263080"/>
          </a:solidFill>
          <a:ln w="9525">
            <a:solidFill>
              <a:srgbClr val="4C7CF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724912" y="2939796"/>
            <a:ext cx="347472" cy="347472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23" name="Image 3" descr="icons/co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3012948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182112" y="2898648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Pipeline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989320" y="2898648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type-casting, deduplication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044184" y="3342132"/>
            <a:ext cx="164592" cy="123444"/>
          </a:xfrm>
          <a:prstGeom prst="downArrow">
            <a:avLst/>
          </a:prstGeom>
          <a:solidFill>
            <a:srgbClr val="4C7CF3"/>
          </a:solidFill>
          <a:ln/>
        </p:spPr>
      </p:sp>
      <p:sp>
        <p:nvSpPr>
          <p:cNvPr id="27" name="Shape 21"/>
          <p:cNvSpPr/>
          <p:nvPr/>
        </p:nvSpPr>
        <p:spPr>
          <a:xfrm>
            <a:off x="2651760" y="3465576"/>
            <a:ext cx="6949440" cy="457200"/>
          </a:xfrm>
          <a:prstGeom prst="roundRect">
            <a:avLst>
              <a:gd name="adj" fmla="val 18000"/>
            </a:avLst>
          </a:prstGeom>
          <a:solidFill>
            <a:srgbClr val="263080"/>
          </a:solidFill>
          <a:ln w="9525">
            <a:solidFill>
              <a:srgbClr val="4C7CF3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724912" y="3520440"/>
            <a:ext cx="347472" cy="347472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29" name="Image 4" descr="icons/termina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064" y="3593592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182112" y="3479292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Layer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5989320" y="3479292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timestamped &amp; audit-logged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44184" y="3922776"/>
            <a:ext cx="164592" cy="123444"/>
          </a:xfrm>
          <a:prstGeom prst="downArrow">
            <a:avLst/>
          </a:prstGeom>
          <a:solidFill>
            <a:srgbClr val="4C7CF3"/>
          </a:solidFill>
          <a:ln/>
        </p:spPr>
      </p:sp>
      <p:sp>
        <p:nvSpPr>
          <p:cNvPr id="33" name="Shape 26"/>
          <p:cNvSpPr/>
          <p:nvPr/>
        </p:nvSpPr>
        <p:spPr>
          <a:xfrm>
            <a:off x="2651760" y="4046220"/>
            <a:ext cx="6949440" cy="457200"/>
          </a:xfrm>
          <a:prstGeom prst="roundRect">
            <a:avLst>
              <a:gd name="adj" fmla="val 18000"/>
            </a:avLst>
          </a:prstGeom>
          <a:solidFill>
            <a:srgbClr val="263080"/>
          </a:solidFill>
          <a:ln w="9525">
            <a:solidFill>
              <a:srgbClr val="4C7CF3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2724912" y="4101084"/>
            <a:ext cx="347472" cy="347472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35" name="Image 5" descr="icons/filt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064" y="4174236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182112" y="4059936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5989320" y="4059936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GrossProfit, Margin, StockTurnover, Ratio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6044184" y="4503420"/>
            <a:ext cx="164592" cy="123444"/>
          </a:xfrm>
          <a:prstGeom prst="downArrow">
            <a:avLst/>
          </a:prstGeom>
          <a:solidFill>
            <a:srgbClr val="4C7CF3"/>
          </a:solidFill>
          <a:ln/>
        </p:spPr>
      </p:sp>
      <p:sp>
        <p:nvSpPr>
          <p:cNvPr id="39" name="Shape 31"/>
          <p:cNvSpPr/>
          <p:nvPr/>
        </p:nvSpPr>
        <p:spPr>
          <a:xfrm>
            <a:off x="2651760" y="4626864"/>
            <a:ext cx="6949440" cy="457200"/>
          </a:xfrm>
          <a:prstGeom prst="roundRect">
            <a:avLst>
              <a:gd name="adj" fmla="val 18000"/>
            </a:avLst>
          </a:prstGeom>
          <a:solidFill>
            <a:srgbClr val="263080"/>
          </a:solidFill>
          <a:ln w="9525">
            <a:solidFill>
              <a:srgbClr val="4C7CF3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2724912" y="4681728"/>
            <a:ext cx="347472" cy="347472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41" name="Image 6" descr="icons/chartba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8064" y="4754880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182112" y="464058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5989320" y="4640580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correlation, Pareto, rankings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6044184" y="5084064"/>
            <a:ext cx="164592" cy="123444"/>
          </a:xfrm>
          <a:prstGeom prst="downArrow">
            <a:avLst/>
          </a:prstGeom>
          <a:solidFill>
            <a:srgbClr val="4C7CF3"/>
          </a:solidFill>
          <a:ln/>
        </p:spPr>
      </p:sp>
      <p:sp>
        <p:nvSpPr>
          <p:cNvPr id="45" name="Shape 36"/>
          <p:cNvSpPr/>
          <p:nvPr/>
        </p:nvSpPr>
        <p:spPr>
          <a:xfrm>
            <a:off x="2651760" y="5207508"/>
            <a:ext cx="6949440" cy="457200"/>
          </a:xfrm>
          <a:prstGeom prst="roundRect">
            <a:avLst>
              <a:gd name="adj" fmla="val 18000"/>
            </a:avLst>
          </a:prstGeom>
          <a:solidFill>
            <a:srgbClr val="263080"/>
          </a:solidFill>
          <a:ln w="9525">
            <a:solidFill>
              <a:srgbClr val="4C7CF3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2724912" y="5262372"/>
            <a:ext cx="347472" cy="347472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47" name="Image 7" descr="icons/percen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8064" y="5335524"/>
            <a:ext cx="201168" cy="20116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3182112" y="5221224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5989320" y="5221224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intervals, hypothesis testing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6044184" y="5664708"/>
            <a:ext cx="164592" cy="123444"/>
          </a:xfrm>
          <a:prstGeom prst="downArrow">
            <a:avLst/>
          </a:prstGeom>
          <a:solidFill>
            <a:srgbClr val="4C7CF3"/>
          </a:solidFill>
          <a:ln/>
        </p:spPr>
      </p:sp>
      <p:sp>
        <p:nvSpPr>
          <p:cNvPr id="51" name="Shape 41"/>
          <p:cNvSpPr/>
          <p:nvPr/>
        </p:nvSpPr>
        <p:spPr>
          <a:xfrm>
            <a:off x="2651760" y="5788152"/>
            <a:ext cx="6949440" cy="457200"/>
          </a:xfrm>
          <a:prstGeom prst="roundRect">
            <a:avLst>
              <a:gd name="adj" fmla="val 18000"/>
            </a:avLst>
          </a:prstGeom>
          <a:solidFill>
            <a:srgbClr val="263080"/>
          </a:solidFill>
          <a:ln w="9525">
            <a:solidFill>
              <a:srgbClr val="4C7CF3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2724912" y="5843016"/>
            <a:ext cx="347472" cy="347472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53" name="Image 8" descr="icons/bullsey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8064" y="5916168"/>
            <a:ext cx="201168" cy="201168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3182112" y="5801868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50" dirty="0"/>
          </a:p>
        </p:txBody>
      </p:sp>
      <p:sp>
        <p:nvSpPr>
          <p:cNvPr id="55" name="Text 44"/>
          <p:cNvSpPr/>
          <p:nvPr/>
        </p:nvSpPr>
        <p:spPr>
          <a:xfrm>
            <a:off x="5989320" y="5801868"/>
            <a:ext cx="3520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risk, pricing &amp; inventory decisions</a:t>
            </a:r>
            <a:endParaRPr lang="en-US" sz="950" dirty="0"/>
          </a:p>
        </p:txBody>
      </p:sp>
      <p:sp>
        <p:nvSpPr>
          <p:cNvPr id="56" name="Text 4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Analysis</a:t>
            </a:r>
            <a:endParaRPr lang="en-US" sz="900" dirty="0"/>
          </a:p>
        </p:txBody>
      </p:sp>
      <p:sp>
        <p:nvSpPr>
          <p:cNvPr id="57" name="Text 4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Engineering: Ingestion &amp; Logging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1B1F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ingestiondb.py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= create_engine("sqlite:///inventory.db")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ingest_db(df, table_name, engine, mode):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df.to_sql(name=table_name, con=engine,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if_exists=mode, index=False)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load_raw_data():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file in os.listdir():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file.endswith(".csv"):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table_name = os.path.splitext(file)[0]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chunk in pd.read_csv(file,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chunksize=10000):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ingest_db(chunk, table_name, engine,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"replace" if first_chunk else "append")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total_rows += len(chunk)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logging.info(f"{table_name} imported | 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f"Rows: {total_rows:,}")</a:t>
            </a:r>
            <a:endParaRPr lang="en-US" sz="1000" dirty="0"/>
          </a:p>
        </p:txBody>
      </p:sp>
      <p:pic>
        <p:nvPicPr>
          <p:cNvPr id="6" name="Image 0" descr="icons/termin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0" y="1325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Pipeline Runs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55080" y="1911096"/>
            <a:ext cx="146304" cy="146304"/>
          </a:xfrm>
          <a:prstGeom prst="ellipse">
            <a:avLst/>
          </a:prstGeom>
          <a:solidFill>
            <a:srgbClr val="4C7CF3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1801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Ingestion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29400" y="21122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 load in 10,000-row chunks — memory-safe for large files, first chunk replaces the table, later chunks append.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55080" y="2935224"/>
            <a:ext cx="146304" cy="146304"/>
          </a:xfrm>
          <a:prstGeom prst="ellipse">
            <a:avLst/>
          </a:prstGeom>
          <a:solidFill>
            <a:srgbClr val="4C7CF3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28254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29400" y="313639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ingest_db() is a single reusable function, imported into downstream scripts (get_vendor_summarry.py) rather than duplicated.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355080" y="3959352"/>
            <a:ext cx="146304" cy="146304"/>
          </a:xfrm>
          <a:prstGeom prst="ellipse">
            <a:avLst/>
          </a:prstGeom>
          <a:solidFill>
            <a:srgbClr val="4C7CF3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384962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Logging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29400" y="41605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module timestamps every stage to ingestion_db.log — start, per-file row counts, and total runtime in minutes.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55080" y="4983480"/>
            <a:ext cx="146304" cy="146304"/>
          </a:xfrm>
          <a:prstGeom prst="ellipse">
            <a:avLst/>
          </a:prstGeom>
          <a:solidFill>
            <a:srgbClr val="4C7CF3"/>
          </a:solidFill>
          <a:ln/>
        </p:spPr>
      </p:sp>
      <p:sp>
        <p:nvSpPr>
          <p:cNvPr id="18" name="Text 15"/>
          <p:cNvSpPr/>
          <p:nvPr/>
        </p:nvSpPr>
        <p:spPr>
          <a:xfrm>
            <a:off x="6629400" y="48737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ETL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29400" y="51846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engine + if_exists mode make re-runs idempotent — safe to re-ingest without duplicating data.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Analysis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3429000" cy="4663440"/>
          </a:xfrm>
          <a:prstGeom prst="roundRect">
            <a:avLst>
              <a:gd name="adj" fmla="val 2133"/>
            </a:avLst>
          </a:prstGeom>
          <a:solidFill>
            <a:srgbClr val="F4F6FB"/>
          </a:solidFill>
          <a:ln/>
        </p:spPr>
      </p:sp>
      <p:pic>
        <p:nvPicPr>
          <p:cNvPr id="4" name="Image 0" descr="icons/warn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6733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Issues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19456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stored as text/object dtype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in freight &amp; sales fields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Leading/trailing spaces in VendorName &amp; Description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profitability metric across tables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050792" y="3611880"/>
            <a:ext cx="274320" cy="274320"/>
          </a:xfrm>
          <a:prstGeom prst="rightArrow">
            <a:avLst/>
          </a:prstGeom>
          <a:solidFill>
            <a:srgbClr val="4C7CF3"/>
          </a:solidFill>
          <a:ln/>
        </p:spPr>
      </p:sp>
      <p:sp>
        <p:nvSpPr>
          <p:cNvPr id="8" name="Shape 5"/>
          <p:cNvSpPr/>
          <p:nvPr/>
        </p:nvSpPr>
        <p:spPr>
          <a:xfrm>
            <a:off x="4389120" y="1417320"/>
            <a:ext cx="3429000" cy="4663440"/>
          </a:xfrm>
          <a:prstGeom prst="roundRect">
            <a:avLst>
              <a:gd name="adj" fmla="val 2133"/>
            </a:avLst>
          </a:prstGeom>
          <a:solidFill>
            <a:srgbClr val="F4F6FB"/>
          </a:solidFill>
          <a:ln/>
        </p:spPr>
      </p:sp>
      <p:pic>
        <p:nvPicPr>
          <p:cNvPr id="9" name="Image 1" descr="icons/broom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4592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74920" y="16733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Applied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17720" y="219456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cast to float64 for numeric ops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fillna(0) applied across the summary table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VendorName / Description stripped of whitespace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into one vendor_sales_summary table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845552" y="3611880"/>
            <a:ext cx="274320" cy="274320"/>
          </a:xfrm>
          <a:prstGeom prst="rightArrow">
            <a:avLst/>
          </a:prstGeom>
          <a:solidFill>
            <a:srgbClr val="4C7CF3"/>
          </a:solidFill>
          <a:ln/>
        </p:spPr>
      </p:sp>
      <p:sp>
        <p:nvSpPr>
          <p:cNvPr id="13" name="Shape 9"/>
          <p:cNvSpPr/>
          <p:nvPr/>
        </p:nvSpPr>
        <p:spPr>
          <a:xfrm>
            <a:off x="8183880" y="1417320"/>
            <a:ext cx="3429000" cy="4663440"/>
          </a:xfrm>
          <a:prstGeom prst="roundRect">
            <a:avLst>
              <a:gd name="adj" fmla="val 2133"/>
            </a:avLst>
          </a:prstGeom>
          <a:solidFill>
            <a:srgbClr val="1E2761"/>
          </a:solidFill>
          <a:ln/>
        </p:spPr>
      </p:sp>
      <p:pic>
        <p:nvPicPr>
          <p:cNvPr id="14" name="Image 2" descr="icons/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4592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69680" y="16733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Metrics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412480" y="219456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GrossProfit = Sales − Purchases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ProfitMargin = GrossProfit / Sales × 100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StockTurnover = Sales Qty / Purchase Qty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SalesToPurchaseRatio = Sales$ / Purchase$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Analysis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532120" cy="3108960"/>
          </a:xfrm>
          <a:prstGeom prst="roundRect">
            <a:avLst>
              <a:gd name="adj" fmla="val 1765"/>
            </a:avLst>
          </a:prstGeom>
          <a:solidFill>
            <a:srgbClr val="F4F6FB"/>
          </a:solidFill>
          <a:ln/>
        </p:spPr>
      </p:sp>
      <p:pic>
        <p:nvPicPr>
          <p:cNvPr id="4" name="Image 0" descr="charts/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51560"/>
            <a:ext cx="5294376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" y="3383280"/>
            <a:ext cx="52943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Correlations: Purchase $ and Sales $ move together; margin is largely independent of volume.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035040" y="1005840"/>
            <a:ext cx="5532120" cy="3108960"/>
          </a:xfrm>
          <a:prstGeom prst="roundRect">
            <a:avLst>
              <a:gd name="adj" fmla="val 1765"/>
            </a:avLst>
          </a:prstGeom>
          <a:solidFill>
            <a:srgbClr val="F4F6FB"/>
          </a:solidFill>
          <a:ln/>
        </p:spPr>
      </p:sp>
      <p:pic>
        <p:nvPicPr>
          <p:cNvPr id="7" name="Image 1" descr="charts/top_vend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051560"/>
            <a:ext cx="5294376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53912" y="3383280"/>
            <a:ext cx="52943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Diageo North America leads all vendors at $68.7M in tracked sales.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3749040"/>
            <a:ext cx="5532120" cy="3108960"/>
          </a:xfrm>
          <a:prstGeom prst="roundRect">
            <a:avLst>
              <a:gd name="adj" fmla="val 1765"/>
            </a:avLst>
          </a:prstGeom>
          <a:solidFill>
            <a:srgbClr val="F4F6FB"/>
          </a:solidFill>
          <a:ln/>
        </p:spPr>
      </p:sp>
      <p:pic>
        <p:nvPicPr>
          <p:cNvPr id="10" name="Image 2" descr="charts/pare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794760"/>
            <a:ext cx="5294376" cy="2286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6072" y="6126480"/>
            <a:ext cx="52943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vendors already account for the bulk of purchase spend (80/20 pattern).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035040" y="3749040"/>
            <a:ext cx="5532120" cy="3108960"/>
          </a:xfrm>
          <a:prstGeom prst="roundRect">
            <a:avLst>
              <a:gd name="adj" fmla="val 1765"/>
            </a:avLst>
          </a:prstGeom>
          <a:solidFill>
            <a:srgbClr val="F4F6FB"/>
          </a:solidFill>
          <a:ln/>
        </p:spPr>
      </p:sp>
      <p:pic>
        <p:nvPicPr>
          <p:cNvPr id="13" name="Image 3" descr="charts/distributio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3794760"/>
            <a:ext cx="5294376" cy="2286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53912" y="6126480"/>
            <a:ext cx="52943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and stock turnover are both heavily right-skewed with a long loss-making tail.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Analysis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Analysis: Confidence Intervals</a:t>
            </a:r>
            <a:endParaRPr lang="en-US" sz="2700" dirty="0"/>
          </a:p>
        </p:txBody>
      </p:sp>
      <p:pic>
        <p:nvPicPr>
          <p:cNvPr id="3" name="Image 0" descr="charts/confidence_inter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7208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52360" y="1234440"/>
            <a:ext cx="425196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768096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Top-Quartile Vendors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80960" y="1645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30.0%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68096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29.5% – 30.5%   (n = 2,629)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80960" y="2514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Tight, stable margins — high-volume vendors price consistently and predictably.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52360" y="3383280"/>
            <a:ext cx="4251960" cy="1965960"/>
          </a:xfrm>
          <a:prstGeom prst="roundRect">
            <a:avLst>
              <a:gd name="adj" fmla="val 3721"/>
            </a:avLst>
          </a:prstGeom>
          <a:solidFill>
            <a:srgbClr val="D64550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Bottom-Quartile Vendors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3794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-136.0%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68096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-169.4% – -102.5%   (n = 2,630)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80960" y="46634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Wide, deeply negative interval — low-volume vendors show erratic, often loss-making pricing.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52360" y="548640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Vendors split into top vs. bottom sales quartiles; mean profit margin and its 95% confidence interval computed for each group using Student's t-distribution (scipy.stats). The non-overlapping intervals indicate the margin gap between high- and low-volume vendors is statistically meaningful, not noise.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361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6245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$451.6M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49808" y="213055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Tracked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06240" y="12344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4407408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3619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136245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$129.7M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407408" y="213055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Gross Profit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863840" y="12344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065008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percen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53619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0" y="136245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30.8%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8065008" y="213055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Profit Margin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017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9" name="Shape 14"/>
          <p:cNvSpPr/>
          <p:nvPr/>
        </p:nvSpPr>
        <p:spPr>
          <a:xfrm>
            <a:off x="749808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s/warehou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1927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314553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 SKUs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49808" y="3913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(Dead) Inventory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206240" y="3017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24" name="Shape 18"/>
          <p:cNvSpPr/>
          <p:nvPr/>
        </p:nvSpPr>
        <p:spPr>
          <a:xfrm>
            <a:off x="4407408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icons/warn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31927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29200" y="314553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19.9%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4407408" y="3913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Sold at a Loss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863840" y="30175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29" name="Shape 22"/>
          <p:cNvSpPr/>
          <p:nvPr/>
        </p:nvSpPr>
        <p:spPr>
          <a:xfrm>
            <a:off x="8065008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icons/searchdoll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331927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686800" y="314553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65.0%</a:t>
            </a:r>
            <a:endParaRPr lang="en-US" sz="2200" dirty="0"/>
          </a:p>
        </p:txBody>
      </p:sp>
      <p:sp>
        <p:nvSpPr>
          <p:cNvPr id="32" name="Text 24"/>
          <p:cNvSpPr/>
          <p:nvPr/>
        </p:nvSpPr>
        <p:spPr>
          <a:xfrm>
            <a:off x="8065008" y="3913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Held by Top 10 Vendors</a:t>
            </a:r>
            <a:endParaRPr lang="en-US" sz="1050" dirty="0"/>
          </a:p>
        </p:txBody>
      </p:sp>
      <p:pic>
        <p:nvPicPr>
          <p:cNvPr id="33" name="Image 6" descr="charts/scatter_quadra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51960"/>
            <a:ext cx="5486400" cy="23317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263640" y="443484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brands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the low-sales / high-margin quadrant — strong candidates for promotional investment to unlock volume without sacrificing margin.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Analysis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417320"/>
            <a:ext cx="457200" cy="457200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5" name="Image 0" descr="icons/warehou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9842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Dead Inventory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9808" y="2441448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SKUs (1.7% of items) have zero sales, tying up $282K in purchase value. Liquidate or discontinue to free working capital.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43400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263080"/>
          </a:solidFill>
          <a:ln/>
        </p:spPr>
      </p:sp>
      <p:sp>
        <p:nvSpPr>
          <p:cNvPr id="9" name="Shape 6"/>
          <p:cNvSpPr/>
          <p:nvPr/>
        </p:nvSpPr>
        <p:spPr>
          <a:xfrm>
            <a:off x="4544568" y="1417320"/>
            <a:ext cx="457200" cy="457200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10" name="Image 1" descr="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4568" y="19842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Loss-Making Pricing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44568" y="2441448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19.9% of line items (2,127 SKUs) sell below cost, a combined $4.35M drag on gross profit. Prioritize repricing the largest offenders first.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138160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263080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9328" y="1417320"/>
            <a:ext cx="457200" cy="457200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15" name="Image 2" descr="icons/search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5270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39328" y="19842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Vendor Concentration Risk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339328" y="2441448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vendors supply 65% of purchases and sales. Diversify sourcing or negotiate resilience clauses to limit single-vendor disruption risk.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263080"/>
          </a:solidFill>
          <a:ln/>
        </p:spPr>
      </p:sp>
      <p:sp>
        <p:nvSpPr>
          <p:cNvPr id="19" name="Shape 14"/>
          <p:cNvSpPr/>
          <p:nvPr/>
        </p:nvSpPr>
        <p:spPr>
          <a:xfrm>
            <a:off x="749808" y="3931920"/>
            <a:ext cx="457200" cy="457200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20" name="Image 3" descr="icon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416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" y="44988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High-Margin, Low-Volume Brands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49808" y="4956048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brands combine strong margin with weak sales volume — the highest-ROI segment for targeted marketing spend.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343400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263080"/>
          </a:solidFill>
          <a:ln/>
        </p:spPr>
      </p:sp>
      <p:sp>
        <p:nvSpPr>
          <p:cNvPr id="24" name="Shape 18"/>
          <p:cNvSpPr/>
          <p:nvPr/>
        </p:nvSpPr>
        <p:spPr>
          <a:xfrm>
            <a:off x="4544568" y="3931920"/>
            <a:ext cx="457200" cy="457200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25" name="Image 4" descr="icons/chartli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404164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44568" y="44988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with Pareto-Priority Vendors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44568" y="4956048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vendors drive 80% of purchase spend — consolidate negotiating leverage and freight terms with this group first.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138160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263080"/>
          </a:solidFill>
          <a:ln/>
        </p:spPr>
      </p:sp>
      <p:sp>
        <p:nvSpPr>
          <p:cNvPr id="29" name="Shape 22"/>
          <p:cNvSpPr/>
          <p:nvPr/>
        </p:nvSpPr>
        <p:spPr>
          <a:xfrm>
            <a:off x="8339328" y="3931920"/>
            <a:ext cx="457200" cy="457200"/>
          </a:xfrm>
          <a:prstGeom prst="ellipse">
            <a:avLst/>
          </a:prstGeom>
          <a:solidFill>
            <a:srgbClr val="4C7CF3"/>
          </a:solidFill>
          <a:ln/>
        </p:spPr>
      </p:sp>
      <p:pic>
        <p:nvPicPr>
          <p:cNvPr id="30" name="Image 5" descr="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04164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39328" y="4498848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Ongoing Monitoring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339328" y="4956048"/>
            <a:ext cx="32095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this pipeline (ingestion → SQL → EDA → CI testing) into a recurring dashboard to catch margin erosion and dead stock earlier.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Analysis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000" dirty="0"/>
          </a:p>
        </p:txBody>
      </p:sp>
      <p:pic>
        <p:nvPicPr>
          <p:cNvPr id="3" name="Image 0" descr="icons/troph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533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05840" y="182880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 design: chunked ingestion, SQLAlchemy, modular Python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SQL: CTEs, multi-table joins, aggregations at scale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 for business KPIs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storytelling with Pandas, Seaborn &amp; Matplotlib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Inferential statistics: confidence intervals with SciPy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hygiene: logging, error handling, reproducibility</a:t>
            </a:r>
            <a:endParaRPr lang="en-US" sz="1200" dirty="0"/>
          </a:p>
        </p:txBody>
      </p:sp>
      <p:pic>
        <p:nvPicPr>
          <p:cNvPr id="6" name="Image 1" descr="icons/rocke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258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12280" y="13533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What's Next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355080" y="18745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9" name="Text 5"/>
          <p:cNvSpPr/>
          <p:nvPr/>
        </p:nvSpPr>
        <p:spPr>
          <a:xfrm>
            <a:off x="6583680" y="20116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4 disconnected raw tables into a single model surfacing $4.35M in loss-making sales, $282K in dead stock, and a 520-brand growth opportunity.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355080" y="3429000"/>
            <a:ext cx="5257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this pipeline into a scheduled, refreshing dashboard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T-test / CI framework to formal hypothesis tests across vendor cohorts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demand forecasting to flag future dead stock before it accumulates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an interactive Power BI / Streamlit report for stakeholders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571500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pic>
        <p:nvPicPr>
          <p:cNvPr id="12" name="Image 2" descr="icons/githu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87044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7150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github.com/your-username/vendor-performance-analysis   •   Thank you — questions welcome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Analysis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2026-07-14T18:07:14Z</dcterms:created>
  <dcterms:modified xsi:type="dcterms:W3CDTF">2026-07-14T18:07:14Z</dcterms:modified>
</cp:coreProperties>
</file>